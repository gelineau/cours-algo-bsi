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3.xml.rels" ContentType="application/vnd.openxmlformats-package.relationships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6.xml" ContentType="application/vnd.openxmlformats-officedocument.theme+xml"/>
  <Override PartName="/ppt/theme/theme45.xml" ContentType="application/vnd.openxmlformats-officedocument.theme+xml"/>
  <Override PartName="/ppt/theme/theme44.xml" ContentType="application/vnd.openxmlformats-officedocument.theme+xml"/>
  <Override PartName="/ppt/theme/theme43.xml" ContentType="application/vnd.openxmlformats-officedocument.theme+xml"/>
  <Override PartName="/ppt/theme/theme42.xml" ContentType="application/vnd.openxmlformats-officedocument.theme+xml"/>
  <Override PartName="/ppt/theme/theme41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38.xml" ContentType="application/vnd.openxmlformats-officedocument.theme+xml"/>
  <Override PartName="/ppt/theme/theme37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60.xml" ContentType="application/vnd.openxmlformats-officedocument.theme+xml"/>
  <Override PartName="/ppt/theme/theme20.xml" ContentType="application/vnd.openxmlformats-officedocument.theme+xml"/>
  <Override PartName="/ppt/theme/theme57.xml" ContentType="application/vnd.openxmlformats-officedocument.theme+xml"/>
  <Override PartName="/ppt/theme/theme19.xml" ContentType="application/vnd.openxmlformats-officedocument.theme+xml"/>
  <Override PartName="/ppt/theme/theme61.xml" ContentType="application/vnd.openxmlformats-officedocument.theme+xml"/>
  <Override PartName="/ppt/theme/theme21.xml" ContentType="application/vnd.openxmlformats-officedocument.theme+xml"/>
  <Override PartName="/ppt/theme/theme58.xml" ContentType="application/vnd.openxmlformats-officedocument.theme+xml"/>
  <Override PartName="/ppt/theme/theme22.xml" ContentType="application/vnd.openxmlformats-officedocument.theme+xml"/>
  <Override PartName="/ppt/theme/theme59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ppt/theme/theme76.xml" ContentType="application/vnd.openxmlformats-officedocument.theme+xml"/>
  <Override PartName="/ppt/theme/theme64.xml" ContentType="application/vnd.openxmlformats-officedocument.theme+xml"/>
  <Override PartName="/ppt/theme/theme75.xml" ContentType="application/vnd.openxmlformats-officedocument.theme+xml"/>
  <Override PartName="/ppt/theme/theme74.xml" ContentType="application/vnd.openxmlformats-officedocument.theme+xml"/>
  <Override PartName="/ppt/theme/theme73.xml" ContentType="application/vnd.openxmlformats-officedocument.theme+xml"/>
  <Override PartName="/ppt/theme/theme72.xml" ContentType="application/vnd.openxmlformats-officedocument.theme+xml"/>
  <Override PartName="/ppt/theme/theme71.xml" ContentType="application/vnd.openxmlformats-officedocument.theme+xml"/>
  <Override PartName="/ppt/theme/theme69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70.xml" ContentType="application/vnd.openxmlformats-officedocument.theme+xml"/>
  <Override PartName="/ppt/theme/theme68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66.xml" ContentType="application/vnd.openxmlformats-officedocument.theme+xml"/>
  <Override PartName="/ppt/theme/theme65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1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  <p:sldMasterId id="2147483754" r:id="rId55"/>
    <p:sldMasterId id="2147483756" r:id="rId56"/>
    <p:sldMasterId id="2147483758" r:id="rId57"/>
    <p:sldMasterId id="2147483760" r:id="rId58"/>
    <p:sldMasterId id="2147483762" r:id="rId59"/>
    <p:sldMasterId id="2147483764" r:id="rId60"/>
    <p:sldMasterId id="2147483766" r:id="rId61"/>
    <p:sldMasterId id="2147483768" r:id="rId62"/>
    <p:sldMasterId id="2147483770" r:id="rId63"/>
    <p:sldMasterId id="2147483772" r:id="rId64"/>
    <p:sldMasterId id="2147483774" r:id="rId65"/>
    <p:sldMasterId id="2147483776" r:id="rId66"/>
    <p:sldMasterId id="2147483778" r:id="rId67"/>
    <p:sldMasterId id="2147483780" r:id="rId68"/>
    <p:sldMasterId id="2147483782" r:id="rId69"/>
    <p:sldMasterId id="2147483784" r:id="rId70"/>
    <p:sldMasterId id="2147483786" r:id="rId71"/>
    <p:sldMasterId id="2147483788" r:id="rId72"/>
    <p:sldMasterId id="2147483790" r:id="rId73"/>
    <p:sldMasterId id="2147483792" r:id="rId74"/>
    <p:sldMasterId id="2147483794" r:id="rId75"/>
    <p:sldMasterId id="2147483796" r:id="rId76"/>
    <p:sldMasterId id="2147483798" r:id="rId77"/>
  </p:sldMasterIdLst>
  <p:sldIdLst>
    <p:sldId id="256" r:id="rId78"/>
    <p:sldId id="257" r:id="rId79"/>
    <p:sldId id="258" r:id="rId80"/>
    <p:sldId id="259" r:id="rId81"/>
    <p:sldId id="260" r:id="rId82"/>
    <p:sldId id="261" r:id="rId83"/>
    <p:sldId id="262" r:id="rId84"/>
    <p:sldId id="263" r:id="rId85"/>
    <p:sldId id="264" r:id="rId86"/>
    <p:sldId id="265" r:id="rId87"/>
    <p:sldId id="266" r:id="rId88"/>
    <p:sldId id="267" r:id="rId89"/>
    <p:sldId id="268" r:id="rId90"/>
    <p:sldId id="269" r:id="rId91"/>
    <p:sldId id="270" r:id="rId92"/>
    <p:sldId id="271" r:id="rId9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" Target="slides/slide1.xml"/><Relationship Id="rId79" Type="http://schemas.openxmlformats.org/officeDocument/2006/relationships/slide" Target="slides/slide2.xml"/><Relationship Id="rId80" Type="http://schemas.openxmlformats.org/officeDocument/2006/relationships/slide" Target="slides/slide3.xml"/><Relationship Id="rId81" Type="http://schemas.openxmlformats.org/officeDocument/2006/relationships/slide" Target="slides/slide4.xml"/><Relationship Id="rId82" Type="http://schemas.openxmlformats.org/officeDocument/2006/relationships/slide" Target="slides/slide5.xml"/><Relationship Id="rId83" Type="http://schemas.openxmlformats.org/officeDocument/2006/relationships/slide" Target="slides/slide6.xml"/><Relationship Id="rId84" Type="http://schemas.openxmlformats.org/officeDocument/2006/relationships/slide" Target="slides/slide7.xml"/><Relationship Id="rId85" Type="http://schemas.openxmlformats.org/officeDocument/2006/relationships/slide" Target="slides/slide8.xml"/><Relationship Id="rId86" Type="http://schemas.openxmlformats.org/officeDocument/2006/relationships/slide" Target="slides/slide9.xml"/><Relationship Id="rId87" Type="http://schemas.openxmlformats.org/officeDocument/2006/relationships/slide" Target="slides/slide10.xml"/><Relationship Id="rId88" Type="http://schemas.openxmlformats.org/officeDocument/2006/relationships/slide" Target="slides/slide11.xml"/><Relationship Id="rId89" Type="http://schemas.openxmlformats.org/officeDocument/2006/relationships/slide" Target="slides/slide12.xml"/><Relationship Id="rId90" Type="http://schemas.openxmlformats.org/officeDocument/2006/relationships/slide" Target="slides/slide13.xml"/><Relationship Id="rId91" Type="http://schemas.openxmlformats.org/officeDocument/2006/relationships/slide" Target="slides/slide14.xml"/><Relationship Id="rId92" Type="http://schemas.openxmlformats.org/officeDocument/2006/relationships/slide" Target="slides/slide15.xml"/><Relationship Id="rId93" Type="http://schemas.openxmlformats.org/officeDocument/2006/relationships/slide" Target="slides/slide16.xml"/><Relationship Id="rId9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9C339E-B347-4ECF-973B-BAADC3F2C8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7C26E7-AE35-4403-915E-2CE0405275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69A1EA-DF3F-49E5-B5C2-891382EC99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C410A96-D9FE-4E4B-A92B-E648B734F6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0B49B0A-5DA1-4971-82E2-FF4DAAE8ED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B068F96-4FCB-4310-9E94-CBCFFC9629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3C63496-3F21-43B4-95E9-CDBA583656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3098164-BF40-4F84-9BC3-8B1F1F3086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4435EEB-C929-4B8C-B772-26CBBC22A4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659C03C1-02EF-473B-8890-57DFB305AD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BA558B8-1648-421E-907C-CD7A45B33C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3C47941D-E15B-4A30-9883-47B4B1EC2D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0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4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5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6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7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8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59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0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1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2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3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4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5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6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7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8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69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0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1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2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3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4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5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BD7F475-0922-4955-8EEA-93490F32ABC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3AB9C92-1CF8-4023-B2B1-F63464A8AA1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04F63C9-4AE1-4D53-BB30-005500947DF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F381E1F0-6AF6-4E22-88EC-62E746A03DD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4EC0D42-22D4-437C-B50A-B3DFAFD4D9B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2D1BD96-0176-4552-94FB-F1AE97B3917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A88FD86-D328-4EDD-87DD-79FB9833E34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A90D803-CBD2-4C07-AF11-3A32BC3BFEA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874BE59-326F-4455-B9DF-0B138BFA2C2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A937C66-4295-47DB-A5FA-429A144F42C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F3B3D83-3B29-4436-A834-7493CBB1243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314280" y="4535640"/>
            <a:ext cx="26712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AA0B870-7748-49A2-8528-002F02387CC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619560" y="4749120"/>
            <a:ext cx="360" cy="1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7981411-8002-461A-B7A2-20889D41ADC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6137716-1B07-4CBC-A347-BB78BD4AEF6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5A1A72F-D77D-4E27-B6AE-99CEC60A407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1884A4F-D3E6-4D23-B599-DFBB1F8E47C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93FC377-E9EC-487E-8BEE-FABD937D080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BD4A975-71A3-4DBA-A07A-58042643613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865EFBD-7ABD-4634-BFC0-0BB4C95E036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4442951-1854-4C6E-854F-83F1ABC7032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8E41F67-546B-442A-A7E2-F9C5B727C13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4D9A4D4-7BD7-4C90-834D-7D304A17672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8A6A2E2-857B-4CB1-A240-9403ED31B21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836E7BB-78EB-422E-B12C-242D4E3DF1F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16B272C-78BC-4591-9C71-71737228276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F6C76AF-B170-495A-B31C-54C81B0AD82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F13B621-6C0C-4610-9A99-6423E362B6A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4BE0A6E-220B-4BDE-AB5B-DA6A9588239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BC11B19-CE62-47DF-B6DC-D5B25A49FA8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CAA4270-0E59-4221-9704-B0E0E16A08A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D0119C5-EDAB-4CF4-B961-C6A0798D44A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4873F3D-6914-48F9-8653-B7ED2101CF9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B5A9D6F-A36F-499D-B3AF-5FF4B173FF28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12692B7-F7C5-4845-B538-90462543A54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35DE9AC-ADEF-41E8-A918-495A07283D6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8DAC248-57FD-449A-B4E1-28ED71C0336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619560" y="4749120"/>
            <a:ext cx="360" cy="1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D2FCB8E-C299-42BE-BE63-1E2F3347819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5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246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47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8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49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0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1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2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3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A8749B8-E506-40FF-97F5-D61312FE0E8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3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264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65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6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7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8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9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0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1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AA8862A-2319-4BDE-8FDB-FF7249A6153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9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280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81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2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3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4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5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6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7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33DD88F-9DF9-46F0-A60B-30D20568EDC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9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00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01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2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3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4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5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6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07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31B21F7-2E10-4A4C-873A-EF679C5F962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9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10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11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2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3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4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5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6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17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BB2DA81-CCE4-4088-9426-DBF7D5D7D49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1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22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23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4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5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6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7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8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29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F8D7C7D-DF9E-4E9B-BF12-C4E938D32C5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5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36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8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9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0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1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2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C636C09-CD54-48CD-8263-12545170187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9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50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51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2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3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4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5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6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7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D37BDDB-336F-4EB8-96D6-379A843064D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5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66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67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8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9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0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1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2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3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D08699A-426D-426F-9B8E-1E973F453EA3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7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78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79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0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1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2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3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4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85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8B3DCD34-8556-4F4B-B1C4-088443BD4E9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7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388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389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0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1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2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3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4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95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CustomShape 1" hidden="1"/>
          <p:cNvSpPr/>
          <p:nvPr/>
        </p:nvSpPr>
        <p:spPr>
          <a:xfrm>
            <a:off x="314280" y="4535640"/>
            <a:ext cx="2707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5ED1E17-EA2C-46F4-895B-E3A5B2A6FCB4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5" name="Group 4"/>
          <p:cNvGrpSpPr/>
          <p:nvPr/>
        </p:nvGrpSpPr>
        <p:grpSpPr>
          <a:xfrm>
            <a:off x="313560" y="4233960"/>
            <a:ext cx="608400" cy="608400"/>
            <a:chOff x="313560" y="4233960"/>
            <a:chExt cx="608400" cy="608400"/>
          </a:xfrm>
        </p:grpSpPr>
        <p:sp>
          <p:nvSpPr>
            <p:cNvPr id="406" name="CustomShape 5"/>
            <p:cNvSpPr/>
            <p:nvPr/>
          </p:nvSpPr>
          <p:spPr>
            <a:xfrm>
              <a:off x="313560" y="4233960"/>
              <a:ext cx="608400" cy="608400"/>
            </a:xfrm>
            <a:prstGeom prst="rect">
              <a:avLst/>
            </a:prstGeom>
            <a:solidFill>
              <a:srgbClr val="ff79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407" name="CustomShape 6"/>
            <p:cNvSpPr/>
            <p:nvPr/>
          </p:nvSpPr>
          <p:spPr>
            <a:xfrm>
              <a:off x="500760" y="4708440"/>
              <a:ext cx="70200" cy="83160"/>
            </a:xfrm>
            <a:custGeom>
              <a:avLst/>
              <a:gdLst>
                <a:gd name="textAreaLeft" fmla="*/ 0 w 70200"/>
                <a:gd name="textAreaRight" fmla="*/ 71640 w 70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8" name="CustomShape 7"/>
            <p:cNvSpPr/>
            <p:nvPr/>
          </p:nvSpPr>
          <p:spPr>
            <a:xfrm>
              <a:off x="592920" y="4708440"/>
              <a:ext cx="72000" cy="83160"/>
            </a:xfrm>
            <a:custGeom>
              <a:avLst/>
              <a:gdLst>
                <a:gd name="textAreaLeft" fmla="*/ 0 w 72000"/>
                <a:gd name="textAreaRight" fmla="*/ 73440 w 720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09" name="CustomShape 8"/>
            <p:cNvSpPr/>
            <p:nvPr/>
          </p:nvSpPr>
          <p:spPr>
            <a:xfrm>
              <a:off x="778680" y="4708440"/>
              <a:ext cx="74880" cy="8460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0" name="CustomShape 9"/>
            <p:cNvSpPr/>
            <p:nvPr/>
          </p:nvSpPr>
          <p:spPr>
            <a:xfrm>
              <a:off x="347040" y="4708440"/>
              <a:ext cx="79920" cy="84600"/>
            </a:xfrm>
            <a:custGeom>
              <a:avLst/>
              <a:gdLst>
                <a:gd name="textAreaLeft" fmla="*/ 0 w 79920"/>
                <a:gd name="textAreaRight" fmla="*/ 81360 w 79920"/>
                <a:gd name="textAreaTop" fmla="*/ 0 h 84600"/>
                <a:gd name="textAreaBottom" fmla="*/ 86040 h 84600"/>
              </a:gdLst>
              <a:ahLst/>
              <a:rect l="textAreaLeft" t="textAreaTop" r="textAreaRight" b="textAreaBottom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040" bIns="4104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1" name="CustomShape 10"/>
            <p:cNvSpPr/>
            <p:nvPr/>
          </p:nvSpPr>
          <p:spPr>
            <a:xfrm>
              <a:off x="446760" y="4708440"/>
              <a:ext cx="43200" cy="83160"/>
            </a:xfrm>
            <a:custGeom>
              <a:avLst/>
              <a:gdLst>
                <a:gd name="textAreaLeft" fmla="*/ 0 w 43200"/>
                <a:gd name="textAreaRight" fmla="*/ 44640 w 43200"/>
                <a:gd name="textAreaTop" fmla="*/ 0 h 83160"/>
                <a:gd name="textAreaBottom" fmla="*/ 84600 h 83160"/>
              </a:gdLst>
              <a:ahLst/>
              <a:rect l="textAreaLeft" t="textAreaTop" r="textAreaRight" b="textAreaBottom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2" name="CustomShape 11"/>
            <p:cNvSpPr/>
            <p:nvPr/>
          </p:nvSpPr>
          <p:spPr>
            <a:xfrm>
              <a:off x="685080" y="4708440"/>
              <a:ext cx="74880" cy="116280"/>
            </a:xfrm>
            <a:custGeom>
              <a:avLst/>
              <a:gdLst>
                <a:gd name="textAreaLeft" fmla="*/ 0 w 74880"/>
                <a:gd name="textAreaRight" fmla="*/ 76320 w 74880"/>
                <a:gd name="textAreaTop" fmla="*/ 0 h 116280"/>
                <a:gd name="textAreaBottom" fmla="*/ 117720 h 116280"/>
              </a:gdLst>
              <a:ahLst/>
              <a:rect l="textAreaLeft" t="textAreaTop" r="textAreaRight" b="textAreaBottom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413" name="CustomShape 12"/>
            <p:cNvSpPr/>
            <p:nvPr/>
          </p:nvSpPr>
          <p:spPr>
            <a:xfrm>
              <a:off x="843840" y="4678200"/>
              <a:ext cx="54360" cy="22680"/>
            </a:xfrm>
            <a:custGeom>
              <a:avLst/>
              <a:gdLst>
                <a:gd name="textAreaLeft" fmla="*/ 0 w 54360"/>
                <a:gd name="textAreaRight" fmla="*/ 55800 w 54360"/>
                <a:gd name="textAreaTop" fmla="*/ 0 h 22680"/>
                <a:gd name="textAreaBottom" fmla="*/ 24120 h 22680"/>
              </a:gdLst>
              <a:ahLst/>
              <a:rect l="textAreaLeft" t="textAreaTop" r="textAreaRight" b="textAreaBottom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0880" bIns="-208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212D8B3-E513-4937-A55C-A92929C5F90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6168D7B-B384-4440-BD3C-9A05A7AAB02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A877D57-2533-4681-BF85-6C5CDB5DF8EA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D2C8F6B-A700-4D58-851D-22EB35B71E29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242B7A8-D2CB-4A32-A9E6-0B826BEC1CE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9E3ECA7C-7FFD-4900-80FF-DA37BD82EA1B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3DE895E-270A-47AE-8DDC-4441793AC8F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FC38582-2CE0-4843-A4A1-1AB012A3EFF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0E954C87-EFB8-40F3-93ED-CC41A45A193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E0354DA-0DDE-4C7A-B567-71C4EAFED061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BC1D950-0A72-4AEC-AD53-D0475337AF5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163753A5-6593-41A9-B933-A033157A37CE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462319CF-4339-4411-9031-9DEA57FB34D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5"/>
          <p:cNvSpPr>
            <a:spLocks noGrp="1"/>
          </p:cNvSpPr>
          <p:nvPr>
            <p:ph type="ftr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1" name="PlaceHolder 6"/>
          <p:cNvSpPr>
            <a:spLocks noGrp="1"/>
          </p:cNvSpPr>
          <p:nvPr>
            <p:ph type="sldNum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DB75B2-90DE-4E40-8794-2FA0FE4C4FE4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2" name="PlaceHolder 7"/>
          <p:cNvSpPr>
            <a:spLocks noGrp="1"/>
          </p:cNvSpPr>
          <p:nvPr>
            <p:ph type="dt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48CBB45-D0B4-40D0-8CA8-E93874CA1EC5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ftr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543B30-48C9-4CF4-9E92-657267DA5358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dt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29A7859F-8EEB-40B5-860C-AD3D5ADC42C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6"/>
          <p:cNvSpPr>
            <a:spLocks noGrp="1"/>
          </p:cNvSpPr>
          <p:nvPr>
            <p:ph type="ftr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6" name="PlaceHolder 7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00F7CA-2FA5-4313-8B31-89BED0AE43E5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7" name="PlaceHolder 8"/>
          <p:cNvSpPr>
            <a:spLocks noGrp="1"/>
          </p:cNvSpPr>
          <p:nvPr>
            <p:ph type="dt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DBC6D744-61BC-43C7-BA13-A67A8EAB889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5" name="PlaceHolder 1"/>
          <p:cNvSpPr>
            <a:spLocks noGrp="1"/>
          </p:cNvSpPr>
          <p:nvPr>
            <p:ph type="ftr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632B55-6DC5-4B62-AEEA-8FAC8D11C989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dt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73329BEB-6702-4924-9EA8-AB0E05E4E9D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0" name="PlaceHolder 1"/>
          <p:cNvSpPr>
            <a:spLocks noGrp="1"/>
          </p:cNvSpPr>
          <p:nvPr>
            <p:ph type="ftr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FB9270-B313-412F-BFE4-707532BF30FD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dt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374FF5C-ED4B-49EB-9E91-DC5A8E58549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ftr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0" name="PlaceHolder 4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EF3DEA-03C8-4BBF-B8D3-F3059E763D5B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1" name="PlaceHolder 5"/>
          <p:cNvSpPr>
            <a:spLocks noGrp="1"/>
          </p:cNvSpPr>
          <p:nvPr>
            <p:ph type="dt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5508FF5-AA6C-49C3-A7B1-328482ED61D0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ftr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9" name="PlaceHolder 4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086E47-BAB6-4C6F-B562-C8A6546A85EE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0" name="PlaceHolder 5"/>
          <p:cNvSpPr>
            <a:spLocks noGrp="1"/>
          </p:cNvSpPr>
          <p:nvPr>
            <p:ph type="dt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07F98AF-B9A7-48DF-8D0C-BA9FC3F14E4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4"/>
          <p:cNvSpPr>
            <a:spLocks noGrp="1"/>
          </p:cNvSpPr>
          <p:nvPr>
            <p:ph type="ftr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9" name="PlaceHolder 5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804E40-9D96-484B-9A98-9FA04BBA8BE9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0" name="PlaceHolder 6"/>
          <p:cNvSpPr>
            <a:spLocks noGrp="1"/>
          </p:cNvSpPr>
          <p:nvPr>
            <p:ph type="dt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5B20637-579D-421B-94A7-1FECACAD452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ftr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14AF04-2CB0-4A65-936F-413FF129DA9F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9" name="PlaceHolder 4"/>
          <p:cNvSpPr>
            <a:spLocks noGrp="1"/>
          </p:cNvSpPr>
          <p:nvPr>
            <p:ph type="dt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BC1098ED-7AB9-4437-99AE-984103970CAD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3" name="PlaceHolder 1"/>
          <p:cNvSpPr>
            <a:spLocks noGrp="1"/>
          </p:cNvSpPr>
          <p:nvPr>
            <p:ph type="ftr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D43EBB-9643-46F2-A95B-B9248D22A84C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dt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E6AD6382-3456-4CC2-BDDC-3B40C6E7C9C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5"/>
          <p:cNvSpPr>
            <a:spLocks noGrp="1"/>
          </p:cNvSpPr>
          <p:nvPr>
            <p:ph type="ftr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3" name="PlaceHolder 6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98459B-F1AA-4146-BD67-4FEF62891A25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PlaceHolder 7"/>
          <p:cNvSpPr>
            <a:spLocks noGrp="1"/>
          </p:cNvSpPr>
          <p:nvPr>
            <p:ph type="dt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5F8E04F4-7D4F-4A1F-82A6-602C0ECDA15F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5"/>
          <p:cNvSpPr>
            <a:spLocks noGrp="1"/>
          </p:cNvSpPr>
          <p:nvPr>
            <p:ph type="ftr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6" name="PlaceHolder 6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800" spc="-1" strike="noStrike">
                <a:solidFill>
                  <a:srgbClr val="8b8b8b"/>
                </a:solidFill>
                <a:latin typeface="Arial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F69ED6-A8DD-431A-93BA-1478BF6D8207}" type="slidenum">
              <a:rPr b="0" lang="fr-FR" sz="1800" spc="-1" strike="noStrike">
                <a:solidFill>
                  <a:srgbClr val="8b8b8b"/>
                </a:solidFill>
                <a:latin typeface="Arial"/>
                <a:ea typeface="DejaVu Sans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7" name="PlaceHolder 7"/>
          <p:cNvSpPr>
            <a:spLocks noGrp="1"/>
          </p:cNvSpPr>
          <p:nvPr>
            <p:ph type="dt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CustomShape 1"/>
          <p:cNvSpPr/>
          <p:nvPr/>
        </p:nvSpPr>
        <p:spPr>
          <a:xfrm>
            <a:off x="314280" y="4535640"/>
            <a:ext cx="2718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CA137E50-813D-402A-95F1-8438E7F0C347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CustomShape 4"/>
          <p:cNvSpPr/>
          <p:nvPr/>
        </p:nvSpPr>
        <p:spPr>
          <a:xfrm>
            <a:off x="619560" y="4749120"/>
            <a:ext cx="360" cy="1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CustomShape 1"/>
          <p:cNvSpPr/>
          <p:nvPr/>
        </p:nvSpPr>
        <p:spPr>
          <a:xfrm>
            <a:off x="314280" y="4535640"/>
            <a:ext cx="2718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65F84A4A-47A4-4373-AF7D-9A47E004A992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CustomShape 4"/>
          <p:cNvSpPr/>
          <p:nvPr/>
        </p:nvSpPr>
        <p:spPr>
          <a:xfrm>
            <a:off x="619560" y="4749120"/>
            <a:ext cx="360" cy="1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CustomShape 1"/>
          <p:cNvSpPr/>
          <p:nvPr/>
        </p:nvSpPr>
        <p:spPr>
          <a:xfrm>
            <a:off x="314280" y="4535640"/>
            <a:ext cx="27180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37CEB338-0509-46B7-A9EB-A1E2778087B6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CustomShape 4"/>
          <p:cNvSpPr/>
          <p:nvPr/>
        </p:nvSpPr>
        <p:spPr>
          <a:xfrm>
            <a:off x="619560" y="4749120"/>
            <a:ext cx="360" cy="1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CustomShape 1"/>
          <p:cNvSpPr/>
          <p:nvPr/>
        </p:nvSpPr>
        <p:spPr>
          <a:xfrm>
            <a:off x="314280" y="4535640"/>
            <a:ext cx="2714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" rIns="0" tIns="0" bIns="0" anchor="b">
            <a:normAutofit/>
          </a:bodyPr>
          <a:p>
            <a:pPr>
              <a:lnSpc>
                <a:spcPct val="85000"/>
              </a:lnSpc>
              <a:spcAft>
                <a:spcPts val="1199"/>
              </a:spcAft>
            </a:pPr>
            <a:fld id="{ACED9EBC-EA19-48DE-9B39-2C47D977BD6C}" type="slidenum">
              <a:rPr b="0" lang="fr-FR" sz="800" spc="-1" strike="noStrike">
                <a:solidFill>
                  <a:srgbClr val="000000"/>
                </a:solidFill>
                <a:latin typeface="Helvetica 75 Bold"/>
                <a:ea typeface="DejaVu Sans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CustomShape 4"/>
          <p:cNvSpPr/>
          <p:nvPr/>
        </p:nvSpPr>
        <p:spPr>
          <a:xfrm>
            <a:off x="619560" y="4749120"/>
            <a:ext cx="360" cy="1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1.xml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image" Target="../media/image4.png"/><Relationship Id="rId11" Type="http://schemas.openxmlformats.org/officeDocument/2006/relationships/slideLayout" Target="../slideLayouts/slideLayout6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" Target="slide1.xml"/><Relationship Id="rId7" Type="http://schemas.openxmlformats.org/officeDocument/2006/relationships/slide" Target="slide1.xml"/><Relationship Id="rId8" Type="http://schemas.openxmlformats.org/officeDocument/2006/relationships/slide" Target="slide1.xml"/><Relationship Id="rId9" Type="http://schemas.openxmlformats.org/officeDocument/2006/relationships/slide" Target="slide1.xml"/><Relationship Id="rId10" Type="http://schemas.openxmlformats.org/officeDocument/2006/relationships/slide" Target="slide1.xml"/><Relationship Id="rId11" Type="http://schemas.openxmlformats.org/officeDocument/2006/relationships/image" Target="../media/image9.png"/><Relationship Id="rId12" Type="http://schemas.openxmlformats.org/officeDocument/2006/relationships/image" Target="../media/image8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6.png"/><Relationship Id="rId16" Type="http://schemas.openxmlformats.org/officeDocument/2006/relationships/slideLayout" Target="../slideLayouts/slideLayout6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github.com/gelineau/cours-algo-bsi" TargetMode="External"/><Relationship Id="rId2" Type="http://schemas.openxmlformats.org/officeDocument/2006/relationships/slideLayout" Target="../slideLayouts/slideLayout7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TextShape 11"/>
          <p:cNvSpPr/>
          <p:nvPr/>
        </p:nvSpPr>
        <p:spPr>
          <a:xfrm>
            <a:off x="314280" y="268200"/>
            <a:ext cx="5621400" cy="22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5000"/>
              </a:lnSpc>
            </a:pPr>
            <a:r>
              <a:rPr b="0" lang="fr-FR" sz="5500" spc="-18" strike="noStrike">
                <a:solidFill>
                  <a:srgbClr val="000000"/>
                </a:solidFill>
                <a:latin typeface="Helvetica 75 Bold"/>
                <a:ea typeface="DejaVu Sans"/>
              </a:rPr>
              <a:t>Python – Algorithmique</a:t>
            </a:r>
            <a:br>
              <a:rPr sz="5500"/>
            </a:br>
            <a:endParaRPr b="0" lang="en-US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Shape 12"/>
          <p:cNvSpPr/>
          <p:nvPr/>
        </p:nvSpPr>
        <p:spPr>
          <a:xfrm>
            <a:off x="310680" y="2704320"/>
            <a:ext cx="4826880" cy="9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>
                <a:solidFill>
                  <a:srgbClr val="000000"/>
                </a:solidFill>
                <a:latin typeface="Helvetica 75 Bold"/>
                <a:ea typeface="DejaVu Sans"/>
              </a:rPr>
              <a:t>François Gelineau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TextShape 13"/>
          <p:cNvSpPr/>
          <p:nvPr/>
        </p:nvSpPr>
        <p:spPr>
          <a:xfrm>
            <a:off x="314280" y="1184400"/>
            <a:ext cx="8511120" cy="33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François Gelineau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Orange Innovation, Cesson Sévigné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Développeur logiciel, formateur, coach, community manager, Orange Software Expert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Actuellement : développement d’applications big data de Threat Intelligence pour Orange Cyber Defense (scala, Python)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Auparavant : Python, JS, Typescript, Go, Kotlin, Elm 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Shape 14"/>
          <p:cNvSpPr/>
          <p:nvPr/>
        </p:nvSpPr>
        <p:spPr>
          <a:xfrm>
            <a:off x="314280" y="268200"/>
            <a:ext cx="85111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Présentons nous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Shape 4"/>
          <p:cNvSpPr/>
          <p:nvPr/>
        </p:nvSpPr>
        <p:spPr>
          <a:xfrm>
            <a:off x="228600" y="751320"/>
            <a:ext cx="8512200" cy="33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Python + Algorithmique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Je donnais le cours d’algorithmique depuis plusieurs années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Depuis l’année dernière : regroupé avec le cours de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Savoir écrire du code Python pour résoudre un problème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Utiliser les principales possibilités offertes par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Apprendre les bonnes pratiques pour du code de qualité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Connaître les principales structures de données, et savoir réaliser des traitements sur ces données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Apprendre à évaluer l’efficacité de différents algorithmes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Shape 7"/>
          <p:cNvSpPr/>
          <p:nvPr/>
        </p:nvSpPr>
        <p:spPr>
          <a:xfrm>
            <a:off x="314280" y="267480"/>
            <a:ext cx="851220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Ce cours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TextShape 3"/>
          <p:cNvSpPr/>
          <p:nvPr/>
        </p:nvSpPr>
        <p:spPr>
          <a:xfrm>
            <a:off x="228600" y="751320"/>
            <a:ext cx="8512200" cy="33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Shape 8"/>
          <p:cNvSpPr/>
          <p:nvPr/>
        </p:nvSpPr>
        <p:spPr>
          <a:xfrm>
            <a:off x="314280" y="267480"/>
            <a:ext cx="851220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Parlons d’IA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6" name="" descr=""/>
          <p:cNvPicPr/>
          <p:nvPr/>
        </p:nvPicPr>
        <p:blipFill>
          <a:blip r:embed="rId1"/>
          <a:stretch/>
        </p:blipFill>
        <p:spPr>
          <a:xfrm>
            <a:off x="2743200" y="1828800"/>
            <a:ext cx="2971080" cy="198036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" descr=""/>
          <p:cNvPicPr/>
          <p:nvPr/>
        </p:nvPicPr>
        <p:blipFill>
          <a:blip r:embed="rId1"/>
          <a:stretch/>
        </p:blipFill>
        <p:spPr>
          <a:xfrm>
            <a:off x="758880" y="338400"/>
            <a:ext cx="6555960" cy="4461840"/>
          </a:xfrm>
          <a:prstGeom prst="rect">
            <a:avLst/>
          </a:prstGeom>
          <a:ln w="0">
            <a:noFill/>
          </a:ln>
        </p:spPr>
      </p:pic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TextShape 21"/>
          <p:cNvSpPr/>
          <p:nvPr/>
        </p:nvSpPr>
        <p:spPr>
          <a:xfrm>
            <a:off x="228600" y="751320"/>
            <a:ext cx="8512200" cy="33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Les avis ou les suggestions d’amélioration sont les bienvenues.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 but est d’apprendre, pas de terminer les exercices. Le cours ne doit être désagréable pour personne.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Les erreurs enrichissent le cours. Posez des questions.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Si j’aide un autre élève, je m’aide moi-même.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Je suis respecté comme je suis.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commence à l’heure, on finit à l’heure. On s’absente pendant la pause. Sauf urgence.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On ne fait pas autre chose pendant le cours. Sauf urgence.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75096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Des évaluations objectives et bienveillantes.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Shape 22"/>
          <p:cNvSpPr/>
          <p:nvPr/>
        </p:nvSpPr>
        <p:spPr>
          <a:xfrm>
            <a:off x="314280" y="267480"/>
            <a:ext cx="8512200" cy="74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Règles de vie (version provisoire)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1825560" y="500760"/>
            <a:ext cx="12228840" cy="883080"/>
          </a:xfrm>
          <a:prstGeom prst="rect">
            <a:avLst/>
          </a:prstGeom>
          <a:noFill/>
          <a:ln w="0">
            <a:noFill/>
          </a:ln>
        </p:spPr>
        <p:txBody>
          <a:bodyPr lIns="0" rIns="0" tIns="25560" bIns="0" anchor="ctr">
            <a:noAutofit/>
          </a:bodyPr>
          <a:p>
            <a:pPr marL="18720" indent="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0" lang="fr-FR" sz="2080" spc="-52" strike="noStrike">
                <a:solidFill>
                  <a:srgbClr val="ffffff"/>
                </a:solidFill>
                <a:latin typeface="Tahoma"/>
                <a:ea typeface="DejaVu Sans"/>
              </a:rPr>
              <a:t>Historique</a:t>
            </a:r>
            <a:endParaRPr b="0" lang="en-US" sz="20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1" name="object 3" descr=""/>
          <p:cNvPicPr/>
          <p:nvPr/>
        </p:nvPicPr>
        <p:blipFill>
          <a:blip r:embed="rId1"/>
          <a:stretch/>
        </p:blipFill>
        <p:spPr>
          <a:xfrm>
            <a:off x="1440360" y="1064880"/>
            <a:ext cx="1603440" cy="2938680"/>
          </a:xfrm>
          <a:prstGeom prst="rect">
            <a:avLst/>
          </a:prstGeom>
          <a:ln w="0">
            <a:noFill/>
          </a:ln>
        </p:spPr>
      </p:pic>
      <p:pic>
        <p:nvPicPr>
          <p:cNvPr id="652" name="object 4" descr=""/>
          <p:cNvPicPr/>
          <p:nvPr/>
        </p:nvPicPr>
        <p:blipFill>
          <a:blip r:embed="rId2"/>
          <a:stretch/>
        </p:blipFill>
        <p:spPr>
          <a:xfrm>
            <a:off x="3322080" y="768240"/>
            <a:ext cx="4232160" cy="239760"/>
          </a:xfrm>
          <a:prstGeom prst="rect">
            <a:avLst/>
          </a:prstGeom>
          <a:ln w="0">
            <a:noFill/>
          </a:ln>
        </p:spPr>
      </p:pic>
      <p:sp>
        <p:nvSpPr>
          <p:cNvPr id="653" name="object 5"/>
          <p:cNvSpPr/>
          <p:nvPr/>
        </p:nvSpPr>
        <p:spPr>
          <a:xfrm>
            <a:off x="3322080" y="760320"/>
            <a:ext cx="4232160" cy="26028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 marL="68040">
              <a:lnSpc>
                <a:spcPts val="2007"/>
              </a:lnSpc>
              <a:spcBef>
                <a:spcPts val="45"/>
              </a:spcBef>
            </a:pPr>
            <a:r>
              <a:rPr b="0" lang="fr-FR" sz="1640" spc="-75" strike="noStrike">
                <a:solidFill>
                  <a:srgbClr val="000000"/>
                </a:solidFill>
                <a:latin typeface="Tahoma"/>
                <a:ea typeface="DejaVu Sans"/>
              </a:rPr>
              <a:t>1989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" strike="noStrike">
                <a:solidFill>
                  <a:srgbClr val="000000"/>
                </a:solidFill>
                <a:latin typeface="Tahoma"/>
                <a:ea typeface="DejaVu Sans"/>
              </a:rPr>
              <a:t>:</a:t>
            </a:r>
            <a:r>
              <a:rPr b="0" lang="fr-FR" sz="1640" spc="-97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C</a:t>
            </a:r>
            <a:r>
              <a:rPr b="0" lang="fr-FR" sz="1640" spc="-106" strike="noStrike">
                <a:solidFill>
                  <a:srgbClr val="000000"/>
                </a:solidFill>
                <a:latin typeface="Tahoma"/>
                <a:ea typeface="DejaVu Sans"/>
              </a:rPr>
              <a:t>r</a:t>
            </a:r>
            <a:r>
              <a:rPr b="0" lang="fr-FR" sz="1640" spc="-902" strike="noStrike">
                <a:solidFill>
                  <a:srgbClr val="000000"/>
                </a:solidFill>
                <a:latin typeface="Tahoma"/>
                <a:ea typeface="DejaVu Sans"/>
              </a:rPr>
              <a:t>é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a</a:t>
            </a: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t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i</a:t>
            </a: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on</a:t>
            </a:r>
            <a:r>
              <a:rPr b="0" lang="fr-FR" sz="1640" spc="9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38" strike="noStrike">
                <a:solidFill>
                  <a:srgbClr val="000000"/>
                </a:solidFill>
                <a:latin typeface="Tahoma"/>
                <a:ea typeface="DejaVu Sans"/>
              </a:rPr>
              <a:t>par Guido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" strike="noStrike">
                <a:solidFill>
                  <a:srgbClr val="000000"/>
                </a:solidFill>
                <a:latin typeface="Tahoma"/>
                <a:ea typeface="DejaVu Sans"/>
              </a:rPr>
              <a:t>Van</a:t>
            </a: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Rossum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4" name="object 6" descr=""/>
          <p:cNvPicPr/>
          <p:nvPr/>
        </p:nvPicPr>
        <p:blipFill>
          <a:blip r:embed="rId3"/>
          <a:stretch/>
        </p:blipFill>
        <p:spPr>
          <a:xfrm>
            <a:off x="3322080" y="2222640"/>
            <a:ext cx="4232160" cy="239760"/>
          </a:xfrm>
          <a:prstGeom prst="rect">
            <a:avLst/>
          </a:prstGeom>
          <a:ln w="0">
            <a:noFill/>
          </a:ln>
        </p:spPr>
      </p:pic>
      <p:sp>
        <p:nvSpPr>
          <p:cNvPr id="655" name="object 7"/>
          <p:cNvSpPr/>
          <p:nvPr/>
        </p:nvSpPr>
        <p:spPr>
          <a:xfrm>
            <a:off x="3322080" y="2222640"/>
            <a:ext cx="4232160" cy="26028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 marL="68040">
              <a:lnSpc>
                <a:spcPts val="2007"/>
              </a:lnSpc>
              <a:spcBef>
                <a:spcPts val="45"/>
              </a:spcBef>
            </a:pPr>
            <a:r>
              <a:rPr b="0" lang="fr-FR" sz="1640" spc="-75" strike="noStrike">
                <a:solidFill>
                  <a:srgbClr val="000000"/>
                </a:solidFill>
                <a:latin typeface="Tahoma"/>
                <a:ea typeface="DejaVu Sans"/>
              </a:rPr>
              <a:t>2000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" strike="noStrike">
                <a:solidFill>
                  <a:srgbClr val="000000"/>
                </a:solidFill>
                <a:latin typeface="Tahoma"/>
                <a:ea typeface="DejaVu Sans"/>
              </a:rPr>
              <a:t>:</a:t>
            </a:r>
            <a:r>
              <a:rPr b="0" lang="fr-FR" sz="1640" spc="-69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38" strike="noStrike">
                <a:solidFill>
                  <a:srgbClr val="000000"/>
                </a:solidFill>
                <a:latin typeface="Tahoma"/>
                <a:ea typeface="DejaVu Sans"/>
              </a:rPr>
              <a:t>Sortie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 de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32" strike="noStrike">
                <a:solidFill>
                  <a:srgbClr val="000000"/>
                </a:solidFill>
                <a:latin typeface="Tahoma"/>
                <a:ea typeface="DejaVu Sans"/>
              </a:rPr>
              <a:t>Python2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6" name="object 10" descr=""/>
          <p:cNvPicPr/>
          <p:nvPr/>
        </p:nvPicPr>
        <p:blipFill>
          <a:blip r:embed="rId4"/>
          <a:stretch/>
        </p:blipFill>
        <p:spPr>
          <a:xfrm>
            <a:off x="3322080" y="2986920"/>
            <a:ext cx="4232160" cy="239400"/>
          </a:xfrm>
          <a:prstGeom prst="rect">
            <a:avLst/>
          </a:prstGeom>
          <a:ln w="0">
            <a:noFill/>
          </a:ln>
        </p:spPr>
      </p:pic>
      <p:sp>
        <p:nvSpPr>
          <p:cNvPr id="657" name="object 14"/>
          <p:cNvSpPr/>
          <p:nvPr/>
        </p:nvSpPr>
        <p:spPr>
          <a:xfrm>
            <a:off x="7556400" y="4981680"/>
            <a:ext cx="35604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720">
              <a:lnSpc>
                <a:spcPts val="1003"/>
              </a:lnSpc>
            </a:pPr>
            <a:r>
              <a:rPr b="0" lang="fr-FR" sz="889" spc="-1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5" action="ppaction://hlinksldjump"/>
              </a:rPr>
              <a:t>3</a:t>
            </a:r>
            <a:r>
              <a:rPr b="0" lang="fr-FR" sz="889" spc="-1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6" action="ppaction://hlinksldjump"/>
              </a:rPr>
              <a:t> </a:t>
            </a:r>
            <a:r>
              <a:rPr b="0" lang="fr-FR" sz="889" spc="211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7" action="ppaction://hlinksldjump"/>
              </a:rPr>
              <a:t>/</a:t>
            </a:r>
            <a:r>
              <a:rPr b="0" lang="fr-FR" sz="889" spc="32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8" action="ppaction://hlinksldjump"/>
              </a:rPr>
              <a:t> </a:t>
            </a:r>
            <a:r>
              <a:rPr b="0" lang="fr-FR" sz="889" spc="-38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9" action="ppaction://hlinksldjump"/>
              </a:rPr>
              <a:t>10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Shape 5"/>
          <p:cNvSpPr/>
          <p:nvPr/>
        </p:nvSpPr>
        <p:spPr>
          <a:xfrm>
            <a:off x="314280" y="267480"/>
            <a:ext cx="851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Présentation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object 20"/>
          <p:cNvSpPr/>
          <p:nvPr/>
        </p:nvSpPr>
        <p:spPr>
          <a:xfrm>
            <a:off x="3322080" y="2986920"/>
            <a:ext cx="4232160" cy="26028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spAutoFit/>
          </a:bodyPr>
          <a:p>
            <a:pPr marL="68040">
              <a:lnSpc>
                <a:spcPts val="2007"/>
              </a:lnSpc>
              <a:spcBef>
                <a:spcPts val="45"/>
              </a:spcBef>
            </a:pPr>
            <a:r>
              <a:rPr b="0" lang="fr-FR" sz="1640" spc="-75" strike="noStrike">
                <a:solidFill>
                  <a:srgbClr val="000000"/>
                </a:solidFill>
                <a:latin typeface="Tahoma"/>
                <a:ea typeface="DejaVu Sans"/>
              </a:rPr>
              <a:t>2008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" strike="noStrike">
                <a:solidFill>
                  <a:srgbClr val="000000"/>
                </a:solidFill>
                <a:latin typeface="Tahoma"/>
                <a:ea typeface="DejaVu Sans"/>
              </a:rPr>
              <a:t>:</a:t>
            </a:r>
            <a:r>
              <a:rPr b="0" lang="fr-FR" sz="1640" spc="-69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38" strike="noStrike">
                <a:solidFill>
                  <a:srgbClr val="000000"/>
                </a:solidFill>
                <a:latin typeface="Tahoma"/>
                <a:ea typeface="DejaVu Sans"/>
              </a:rPr>
              <a:t>Sortie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 de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32" strike="noStrike">
                <a:solidFill>
                  <a:srgbClr val="000000"/>
                </a:solidFill>
                <a:latin typeface="Tahoma"/>
                <a:ea typeface="DejaVu Sans"/>
              </a:rPr>
              <a:t>Python3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object 12"/>
          <p:cNvSpPr/>
          <p:nvPr/>
        </p:nvSpPr>
        <p:spPr>
          <a:xfrm>
            <a:off x="3310200" y="1587600"/>
            <a:ext cx="4232160" cy="239760"/>
          </a:xfrm>
          <a:prstGeom prst="rect">
            <a:avLst/>
          </a:prstGeom>
          <a:blipFill rotWithShape="0">
            <a:blip r:embed="rId10"/>
            <a:srcRect/>
            <a:stretch/>
          </a:blipFill>
          <a:ln w="50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5760" bIns="0" anchor="t">
            <a:noAutofit/>
          </a:bodyPr>
          <a:p>
            <a:pPr marL="68040">
              <a:lnSpc>
                <a:spcPts val="2007"/>
              </a:lnSpc>
              <a:spcBef>
                <a:spcPts val="45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1994 : Sortie de Python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1825560" y="500760"/>
            <a:ext cx="12228840" cy="883080"/>
          </a:xfrm>
          <a:prstGeom prst="rect">
            <a:avLst/>
          </a:prstGeom>
          <a:noFill/>
          <a:ln w="0">
            <a:noFill/>
          </a:ln>
        </p:spPr>
        <p:txBody>
          <a:bodyPr lIns="0" rIns="0" tIns="25560" bIns="0" anchor="ctr">
            <a:noAutofit/>
          </a:bodyPr>
          <a:p>
            <a:pPr marL="18720" indent="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0" lang="fr-FR" sz="2080" spc="-38" strike="noStrike">
                <a:solidFill>
                  <a:srgbClr val="ffffff"/>
                </a:solidFill>
                <a:latin typeface="Tahoma"/>
                <a:ea typeface="DejaVu Sans"/>
              </a:rPr>
              <a:t>Pourquoi</a:t>
            </a:r>
            <a:r>
              <a:rPr b="0" lang="fr-FR" sz="2080" spc="-1" strike="noStrike">
                <a:solidFill>
                  <a:srgbClr val="ffffff"/>
                </a:solidFill>
                <a:latin typeface="Tahoma"/>
                <a:ea typeface="DejaVu Sans"/>
              </a:rPr>
              <a:t> </a:t>
            </a:r>
            <a:r>
              <a:rPr b="0" lang="fr-FR" sz="2080" spc="-38" strike="noStrike">
                <a:solidFill>
                  <a:srgbClr val="ffffff"/>
                </a:solidFill>
                <a:latin typeface="Tahoma"/>
                <a:ea typeface="DejaVu Sans"/>
              </a:rPr>
              <a:t>Python</a:t>
            </a:r>
            <a:r>
              <a:rPr b="0" lang="fr-FR" sz="2080" spc="-304" strike="noStrike">
                <a:solidFill>
                  <a:srgbClr val="ffffff"/>
                </a:solidFill>
                <a:latin typeface="Tahoma"/>
                <a:ea typeface="DejaVu Sans"/>
              </a:rPr>
              <a:t> </a:t>
            </a:r>
            <a:r>
              <a:rPr b="0" lang="fr-FR" sz="2080" spc="-75" strike="noStrike">
                <a:solidFill>
                  <a:srgbClr val="ffffff"/>
                </a:solidFill>
                <a:latin typeface="Tahoma"/>
                <a:ea typeface="DejaVu Sans"/>
              </a:rPr>
              <a:t>?</a:t>
            </a:r>
            <a:endParaRPr b="0" lang="en-US" sz="20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2" name="object 8" descr=""/>
          <p:cNvPicPr/>
          <p:nvPr/>
        </p:nvPicPr>
        <p:blipFill>
          <a:blip r:embed="rId1"/>
          <a:stretch/>
        </p:blipFill>
        <p:spPr>
          <a:xfrm>
            <a:off x="4329720" y="778320"/>
            <a:ext cx="3582360" cy="381960"/>
          </a:xfrm>
          <a:prstGeom prst="rect">
            <a:avLst/>
          </a:prstGeom>
          <a:ln w="0">
            <a:noFill/>
          </a:ln>
        </p:spPr>
      </p:pic>
      <p:sp>
        <p:nvSpPr>
          <p:cNvPr id="663" name="object 9"/>
          <p:cNvSpPr/>
          <p:nvPr/>
        </p:nvSpPr>
        <p:spPr>
          <a:xfrm>
            <a:off x="4329720" y="77832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69" strike="noStrike">
                <a:solidFill>
                  <a:srgbClr val="000000"/>
                </a:solidFill>
                <a:latin typeface="Tahoma"/>
                <a:ea typeface="DejaVu Sans"/>
              </a:rPr>
              <a:t>Typage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5" strike="noStrike">
                <a:solidFill>
                  <a:srgbClr val="000000"/>
                </a:solidFill>
                <a:latin typeface="Tahoma"/>
                <a:ea typeface="DejaVu Sans"/>
              </a:rPr>
              <a:t>dynamique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4" name="object 11" descr=""/>
          <p:cNvPicPr/>
          <p:nvPr/>
        </p:nvPicPr>
        <p:blipFill>
          <a:blip r:embed="rId2"/>
          <a:stretch/>
        </p:blipFill>
        <p:spPr>
          <a:xfrm>
            <a:off x="4329720" y="1580760"/>
            <a:ext cx="3582360" cy="361440"/>
          </a:xfrm>
          <a:prstGeom prst="rect">
            <a:avLst/>
          </a:prstGeom>
          <a:ln w="0">
            <a:noFill/>
          </a:ln>
        </p:spPr>
      </p:pic>
      <p:sp>
        <p:nvSpPr>
          <p:cNvPr id="665" name="object 13"/>
          <p:cNvSpPr/>
          <p:nvPr/>
        </p:nvSpPr>
        <p:spPr>
          <a:xfrm>
            <a:off x="4329720" y="158076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O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r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i</a:t>
            </a: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e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n</a:t>
            </a:r>
            <a:r>
              <a:rPr b="0" lang="fr-FR" sz="1640" spc="-97" strike="noStrike">
                <a:solidFill>
                  <a:srgbClr val="000000"/>
                </a:solidFill>
                <a:latin typeface="Tahoma"/>
                <a:ea typeface="DejaVu Sans"/>
              </a:rPr>
              <a:t>té</a:t>
            </a:r>
            <a:r>
              <a:rPr b="0" lang="fr-FR" sz="1640" spc="69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5" strike="noStrike">
                <a:solidFill>
                  <a:srgbClr val="000000"/>
                </a:solidFill>
                <a:latin typeface="Tahoma"/>
                <a:ea typeface="DejaVu Sans"/>
              </a:rPr>
              <a:t>objet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6" name="object 15" descr=""/>
          <p:cNvPicPr/>
          <p:nvPr/>
        </p:nvPicPr>
        <p:blipFill>
          <a:blip r:embed="rId3"/>
          <a:stretch/>
        </p:blipFill>
        <p:spPr>
          <a:xfrm>
            <a:off x="4329720" y="2383200"/>
            <a:ext cx="3582360" cy="361440"/>
          </a:xfrm>
          <a:prstGeom prst="rect">
            <a:avLst/>
          </a:prstGeom>
          <a:ln w="0">
            <a:noFill/>
          </a:ln>
        </p:spPr>
      </p:pic>
      <p:sp>
        <p:nvSpPr>
          <p:cNvPr id="667" name="object 16"/>
          <p:cNvSpPr/>
          <p:nvPr/>
        </p:nvSpPr>
        <p:spPr>
          <a:xfrm>
            <a:off x="4329720" y="238320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83" strike="noStrike">
                <a:solidFill>
                  <a:srgbClr val="000000"/>
                </a:solidFill>
                <a:latin typeface="Tahoma"/>
                <a:ea typeface="DejaVu Sans"/>
              </a:rPr>
              <a:t>Nombreuses</a:t>
            </a:r>
            <a:r>
              <a:rPr b="0" lang="fr-FR" sz="1640" spc="-24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15" strike="noStrike">
                <a:solidFill>
                  <a:srgbClr val="000000"/>
                </a:solidFill>
                <a:latin typeface="Tahoma"/>
                <a:ea typeface="DejaVu Sans"/>
              </a:rPr>
              <a:t>b</a:t>
            </a:r>
            <a:r>
              <a:rPr b="0" lang="fr-FR" sz="1640" spc="-32" strike="noStrike">
                <a:solidFill>
                  <a:srgbClr val="000000"/>
                </a:solidFill>
                <a:latin typeface="Tahoma"/>
                <a:ea typeface="DejaVu Sans"/>
              </a:rPr>
              <a:t>ib</a:t>
            </a:r>
            <a:r>
              <a:rPr b="0" lang="fr-FR" sz="1640" spc="-24" strike="noStrike">
                <a:solidFill>
                  <a:srgbClr val="000000"/>
                </a:solidFill>
                <a:latin typeface="Tahoma"/>
                <a:ea typeface="DejaVu Sans"/>
              </a:rPr>
              <a:t>li</a:t>
            </a:r>
            <a:r>
              <a:rPr b="0" lang="fr-FR" sz="1640" spc="-15" strike="noStrike">
                <a:solidFill>
                  <a:srgbClr val="000000"/>
                </a:solidFill>
                <a:latin typeface="Tahoma"/>
                <a:ea typeface="DejaVu Sans"/>
              </a:rPr>
              <a:t>ot</a:t>
            </a:r>
            <a:r>
              <a:rPr b="0" lang="fr-FR" sz="1640" spc="-75" strike="noStrike">
                <a:solidFill>
                  <a:srgbClr val="000000"/>
                </a:solidFill>
                <a:latin typeface="Tahoma"/>
                <a:ea typeface="DejaVu Sans"/>
              </a:rPr>
              <a:t>h</a:t>
            </a:r>
            <a:r>
              <a:rPr b="0" lang="fr-FR" sz="1640" spc="-871" strike="noStrike">
                <a:solidFill>
                  <a:srgbClr val="000000"/>
                </a:solidFill>
                <a:latin typeface="Tahoma"/>
                <a:ea typeface="DejaVu Sans"/>
              </a:rPr>
              <a:t>è</a:t>
            </a:r>
            <a:r>
              <a:rPr b="0" lang="fr-FR" sz="1640" spc="-32" strike="noStrike">
                <a:solidFill>
                  <a:srgbClr val="000000"/>
                </a:solidFill>
                <a:latin typeface="Tahoma"/>
                <a:ea typeface="DejaVu Sans"/>
              </a:rPr>
              <a:t>q</a:t>
            </a:r>
            <a:r>
              <a:rPr b="0" lang="fr-FR" sz="1640" spc="-15" strike="noStrike">
                <a:solidFill>
                  <a:srgbClr val="000000"/>
                </a:solidFill>
                <a:latin typeface="Tahoma"/>
                <a:ea typeface="DejaVu Sans"/>
              </a:rPr>
              <a:t>u</a:t>
            </a:r>
            <a:r>
              <a:rPr b="0" lang="fr-FR" sz="1640" spc="-32" strike="noStrike">
                <a:solidFill>
                  <a:srgbClr val="000000"/>
                </a:solidFill>
                <a:latin typeface="Tahoma"/>
                <a:ea typeface="DejaVu Sans"/>
              </a:rPr>
              <a:t>e</a:t>
            </a:r>
            <a:r>
              <a:rPr b="0" lang="fr-FR" sz="1640" spc="-15" strike="noStrike">
                <a:solidFill>
                  <a:srgbClr val="000000"/>
                </a:solidFill>
                <a:latin typeface="Tahoma"/>
                <a:ea typeface="DejaVu Sans"/>
              </a:rPr>
              <a:t>s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8" name="object 17" descr=""/>
          <p:cNvPicPr/>
          <p:nvPr/>
        </p:nvPicPr>
        <p:blipFill>
          <a:blip r:embed="rId4"/>
          <a:stretch/>
        </p:blipFill>
        <p:spPr>
          <a:xfrm>
            <a:off x="4364640" y="3188880"/>
            <a:ext cx="3582360" cy="358200"/>
          </a:xfrm>
          <a:prstGeom prst="rect">
            <a:avLst/>
          </a:prstGeom>
          <a:ln w="0">
            <a:noFill/>
          </a:ln>
        </p:spPr>
      </p:pic>
      <p:pic>
        <p:nvPicPr>
          <p:cNvPr id="669" name="object 18" descr=""/>
          <p:cNvPicPr/>
          <p:nvPr/>
        </p:nvPicPr>
        <p:blipFill>
          <a:blip r:embed="rId5"/>
          <a:stretch/>
        </p:blipFill>
        <p:spPr>
          <a:xfrm>
            <a:off x="4364640" y="3986280"/>
            <a:ext cx="3582360" cy="358200"/>
          </a:xfrm>
          <a:prstGeom prst="rect">
            <a:avLst/>
          </a:prstGeom>
          <a:ln w="0">
            <a:noFill/>
          </a:ln>
        </p:spPr>
      </p:pic>
      <p:sp>
        <p:nvSpPr>
          <p:cNvPr id="670" name="object 19"/>
          <p:cNvSpPr/>
          <p:nvPr/>
        </p:nvSpPr>
        <p:spPr>
          <a:xfrm>
            <a:off x="7556400" y="4981680"/>
            <a:ext cx="35604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720">
              <a:lnSpc>
                <a:spcPts val="1003"/>
              </a:lnSpc>
            </a:pPr>
            <a:r>
              <a:rPr b="0" lang="fr-FR" sz="889" spc="-1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6" action="ppaction://hlinksldjump"/>
              </a:rPr>
              <a:t>5</a:t>
            </a:r>
            <a:r>
              <a:rPr b="0" lang="fr-FR" sz="889" spc="-1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7" action="ppaction://hlinksldjump"/>
              </a:rPr>
              <a:t> </a:t>
            </a:r>
            <a:r>
              <a:rPr b="0" lang="fr-FR" sz="889" spc="211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8" action="ppaction://hlinksldjump"/>
              </a:rPr>
              <a:t>/</a:t>
            </a:r>
            <a:r>
              <a:rPr b="0" lang="fr-FR" sz="889" spc="32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9" action="ppaction://hlinksldjump"/>
              </a:rPr>
              <a:t> </a:t>
            </a:r>
            <a:r>
              <a:rPr b="0" lang="fr-FR" sz="889" spc="-38" strike="noStrike" u="sng">
                <a:solidFill>
                  <a:srgbClr val="ff7900"/>
                </a:solidFill>
                <a:uFillTx/>
                <a:latin typeface="Arial MT"/>
                <a:ea typeface="DejaVu Sans"/>
                <a:hlinkClick r:id="rId10" action="ppaction://hlinksldjump"/>
              </a:rPr>
              <a:t>10</a:t>
            </a:r>
            <a:endParaRPr b="0" lang="en-US" sz="88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Shape 6"/>
          <p:cNvSpPr/>
          <p:nvPr/>
        </p:nvSpPr>
        <p:spPr>
          <a:xfrm>
            <a:off x="314280" y="267480"/>
            <a:ext cx="851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Présentation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object 23"/>
          <p:cNvSpPr/>
          <p:nvPr/>
        </p:nvSpPr>
        <p:spPr>
          <a:xfrm>
            <a:off x="4364640" y="398448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83" strike="noStrike">
                <a:solidFill>
                  <a:srgbClr val="000000"/>
                </a:solidFill>
                <a:latin typeface="Tahoma"/>
                <a:ea typeface="DejaVu Sans"/>
              </a:rPr>
              <a:t>Très utilisé en sécurité informatique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object 37"/>
          <p:cNvSpPr/>
          <p:nvPr/>
        </p:nvSpPr>
        <p:spPr>
          <a:xfrm>
            <a:off x="4364640" y="318600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83" strike="noStrike">
                <a:solidFill>
                  <a:srgbClr val="000000"/>
                </a:solidFill>
                <a:latin typeface="Tahoma"/>
                <a:ea typeface="DejaVu Sans"/>
              </a:rPr>
              <a:t>Importante communauté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4" name="object 38" descr=""/>
          <p:cNvPicPr/>
          <p:nvPr/>
        </p:nvPicPr>
        <p:blipFill>
          <a:blip r:embed="rId11"/>
          <a:stretch/>
        </p:blipFill>
        <p:spPr>
          <a:xfrm>
            <a:off x="571320" y="3986280"/>
            <a:ext cx="3582360" cy="358200"/>
          </a:xfrm>
          <a:prstGeom prst="rect">
            <a:avLst/>
          </a:prstGeom>
          <a:ln w="0">
            <a:noFill/>
          </a:ln>
        </p:spPr>
      </p:pic>
      <p:sp>
        <p:nvSpPr>
          <p:cNvPr id="675" name="object 39"/>
          <p:cNvSpPr/>
          <p:nvPr/>
        </p:nvSpPr>
        <p:spPr>
          <a:xfrm>
            <a:off x="563400" y="398448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83" strike="noStrike">
                <a:solidFill>
                  <a:srgbClr val="000000"/>
                </a:solidFill>
                <a:latin typeface="Tahoma"/>
                <a:ea typeface="DejaVu Sans"/>
              </a:rPr>
              <a:t>Syntaxe simple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6" name="object 40" descr=""/>
          <p:cNvPicPr/>
          <p:nvPr/>
        </p:nvPicPr>
        <p:blipFill>
          <a:blip r:embed="rId12"/>
          <a:stretch/>
        </p:blipFill>
        <p:spPr>
          <a:xfrm>
            <a:off x="555840" y="3184920"/>
            <a:ext cx="3582360" cy="358200"/>
          </a:xfrm>
          <a:prstGeom prst="rect">
            <a:avLst/>
          </a:prstGeom>
          <a:ln w="0">
            <a:noFill/>
          </a:ln>
        </p:spPr>
      </p:pic>
      <p:sp>
        <p:nvSpPr>
          <p:cNvPr id="677" name="object 41"/>
          <p:cNvSpPr/>
          <p:nvPr/>
        </p:nvSpPr>
        <p:spPr>
          <a:xfrm>
            <a:off x="555840" y="3182040"/>
            <a:ext cx="3582360" cy="36504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ts val="2007"/>
              </a:lnSpc>
              <a:spcBef>
                <a:spcPts val="45"/>
              </a:spcBef>
            </a:pP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Gestion</a:t>
            </a:r>
            <a:r>
              <a:rPr b="0" lang="fr-FR" sz="1640" spc="-60" strike="noStrike">
                <a:solidFill>
                  <a:srgbClr val="000000"/>
                </a:solidFill>
                <a:latin typeface="Tahoma"/>
                <a:ea typeface="DejaVu Sans"/>
              </a:rPr>
              <a:t> simple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75" strike="noStrike">
                <a:solidFill>
                  <a:srgbClr val="000000"/>
                </a:solidFill>
                <a:latin typeface="Tahoma"/>
                <a:ea typeface="DejaVu Sans"/>
              </a:rPr>
              <a:t>de</a:t>
            </a:r>
            <a:r>
              <a:rPr b="0" lang="fr-FR" sz="1640" spc="-52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640" spc="-38" strike="noStrike">
                <a:solidFill>
                  <a:srgbClr val="000000"/>
                </a:solidFill>
                <a:latin typeface="Tahoma"/>
                <a:ea typeface="DejaVu Sans"/>
              </a:rPr>
              <a:t>la </a:t>
            </a:r>
            <a:r>
              <a:rPr b="0" lang="fr-FR" sz="1640" spc="32" strike="noStrike">
                <a:solidFill>
                  <a:srgbClr val="000000"/>
                </a:solidFill>
                <a:latin typeface="Tahoma"/>
                <a:ea typeface="DejaVu Sans"/>
              </a:rPr>
              <a:t>mémoire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8" name="object 42" descr=""/>
          <p:cNvPicPr/>
          <p:nvPr/>
        </p:nvPicPr>
        <p:blipFill>
          <a:blip r:embed="rId13"/>
          <a:stretch/>
        </p:blipFill>
        <p:spPr>
          <a:xfrm>
            <a:off x="555840" y="2374920"/>
            <a:ext cx="3582360" cy="327960"/>
          </a:xfrm>
          <a:prstGeom prst="rect">
            <a:avLst/>
          </a:prstGeom>
          <a:ln w="0">
            <a:noFill/>
          </a:ln>
        </p:spPr>
      </p:pic>
      <p:sp>
        <p:nvSpPr>
          <p:cNvPr id="679" name="object 43"/>
          <p:cNvSpPr/>
          <p:nvPr/>
        </p:nvSpPr>
        <p:spPr>
          <a:xfrm>
            <a:off x="555840" y="2374920"/>
            <a:ext cx="3582360" cy="34308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2000"/>
              </a:lnSpc>
              <a:spcBef>
                <a:spcPts val="60"/>
              </a:spcBef>
            </a:pPr>
            <a:r>
              <a:rPr b="0" lang="fr-FR" sz="1500" spc="32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fr-FR" sz="1500" spc="-32" strike="noStrike">
                <a:solidFill>
                  <a:srgbClr val="000000"/>
                </a:solidFill>
                <a:latin typeface="Tahoma"/>
                <a:ea typeface="DejaVu Sans"/>
              </a:rPr>
              <a:t>I</a:t>
            </a:r>
            <a:r>
              <a:rPr b="0" lang="fr-FR" sz="1500" spc="-46" strike="noStrike">
                <a:solidFill>
                  <a:srgbClr val="000000"/>
                </a:solidFill>
                <a:latin typeface="Tahoma"/>
                <a:ea typeface="DejaVu Sans"/>
              </a:rPr>
              <a:t>n</a:t>
            </a:r>
            <a:r>
              <a:rPr b="0" lang="fr-FR" sz="1500" spc="-32" strike="noStrike">
                <a:solidFill>
                  <a:srgbClr val="000000"/>
                </a:solidFill>
                <a:latin typeface="Tahoma"/>
                <a:ea typeface="DejaVu Sans"/>
              </a:rPr>
              <a:t>t</a:t>
            </a:r>
            <a:r>
              <a:rPr b="0" lang="fr-FR" sz="1500" spc="-46" strike="noStrike">
                <a:solidFill>
                  <a:srgbClr val="000000"/>
                </a:solidFill>
                <a:latin typeface="Tahoma"/>
                <a:ea typeface="DejaVu Sans"/>
              </a:rPr>
              <a:t>e</a:t>
            </a:r>
            <a:r>
              <a:rPr b="0" lang="fr-FR" sz="1500" spc="-32" strike="noStrike">
                <a:solidFill>
                  <a:srgbClr val="000000"/>
                </a:solidFill>
                <a:latin typeface="Tahoma"/>
                <a:ea typeface="DejaVu Sans"/>
              </a:rPr>
              <a:t>r</a:t>
            </a:r>
            <a:r>
              <a:rPr b="0" lang="fr-FR" sz="1500" spc="-83" strike="noStrike">
                <a:solidFill>
                  <a:srgbClr val="000000"/>
                </a:solidFill>
                <a:latin typeface="Tahoma"/>
                <a:ea typeface="DejaVu Sans"/>
              </a:rPr>
              <a:t>p</a:t>
            </a:r>
            <a:r>
              <a:rPr b="0" lang="fr-FR" sz="1500" spc="-89" strike="noStrike">
                <a:solidFill>
                  <a:srgbClr val="000000"/>
                </a:solidFill>
                <a:latin typeface="Tahoma"/>
                <a:ea typeface="DejaVu Sans"/>
              </a:rPr>
              <a:t>rété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0" name="object 44" descr=""/>
          <p:cNvPicPr/>
          <p:nvPr/>
        </p:nvPicPr>
        <p:blipFill>
          <a:blip r:embed="rId14"/>
          <a:stretch/>
        </p:blipFill>
        <p:spPr>
          <a:xfrm>
            <a:off x="555840" y="1572120"/>
            <a:ext cx="3582360" cy="361440"/>
          </a:xfrm>
          <a:prstGeom prst="rect">
            <a:avLst/>
          </a:prstGeom>
          <a:ln w="0">
            <a:noFill/>
          </a:ln>
        </p:spPr>
      </p:pic>
      <p:sp>
        <p:nvSpPr>
          <p:cNvPr id="681" name="object 45"/>
          <p:cNvSpPr/>
          <p:nvPr/>
        </p:nvSpPr>
        <p:spPr>
          <a:xfrm>
            <a:off x="555840" y="157212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46" strike="noStrike">
                <a:solidFill>
                  <a:srgbClr val="000000"/>
                </a:solidFill>
                <a:latin typeface="Tahoma"/>
                <a:ea typeface="DejaVu Sans"/>
              </a:rPr>
              <a:t>Multiplateformes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2" name="object 46" descr=""/>
          <p:cNvPicPr/>
          <p:nvPr/>
        </p:nvPicPr>
        <p:blipFill>
          <a:blip r:embed="rId15"/>
          <a:stretch/>
        </p:blipFill>
        <p:spPr>
          <a:xfrm>
            <a:off x="563400" y="774360"/>
            <a:ext cx="3582360" cy="381960"/>
          </a:xfrm>
          <a:prstGeom prst="rect">
            <a:avLst/>
          </a:prstGeom>
          <a:ln w="0">
            <a:noFill/>
          </a:ln>
        </p:spPr>
      </p:pic>
      <p:sp>
        <p:nvSpPr>
          <p:cNvPr id="683" name="object 47"/>
          <p:cNvSpPr/>
          <p:nvPr/>
        </p:nvSpPr>
        <p:spPr>
          <a:xfrm>
            <a:off x="563400" y="774360"/>
            <a:ext cx="3582360" cy="360360"/>
          </a:xfrm>
          <a:prstGeom prst="rect">
            <a:avLst/>
          </a:prstGeom>
          <a:noFill/>
          <a:ln w="50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marL="68040">
              <a:lnSpc>
                <a:spcPct val="100000"/>
              </a:lnSpc>
              <a:spcBef>
                <a:spcPts val="870"/>
              </a:spcBef>
            </a:pPr>
            <a:r>
              <a:rPr b="0" lang="fr-FR" sz="1640" spc="-69" strike="noStrike">
                <a:solidFill>
                  <a:srgbClr val="000000"/>
                </a:solidFill>
                <a:latin typeface="Tahoma"/>
                <a:ea typeface="DejaVu Sans"/>
              </a:rPr>
              <a:t>Libre</a:t>
            </a:r>
            <a:endParaRPr b="0" lang="en-US" sz="164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title"/>
          </p:nvPr>
        </p:nvSpPr>
        <p:spPr>
          <a:xfrm>
            <a:off x="1825560" y="500760"/>
            <a:ext cx="12228840" cy="883080"/>
          </a:xfrm>
          <a:prstGeom prst="rect">
            <a:avLst/>
          </a:prstGeom>
          <a:noFill/>
          <a:ln w="0">
            <a:noFill/>
          </a:ln>
        </p:spPr>
        <p:txBody>
          <a:bodyPr lIns="0" rIns="0" tIns="25560" bIns="0" anchor="ctr">
            <a:noAutofit/>
          </a:bodyPr>
          <a:p>
            <a:pPr marL="18720" indent="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b="0" lang="fr-FR" sz="2080" spc="-52" strike="noStrike">
                <a:solidFill>
                  <a:srgbClr val="ffffff"/>
                </a:solidFill>
                <a:latin typeface="Tahoma"/>
                <a:ea typeface="DejaVu Sans"/>
              </a:rPr>
              <a:t>Historique</a:t>
            </a:r>
            <a:endParaRPr b="0" lang="en-US" sz="2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TextShape 17"/>
          <p:cNvSpPr/>
          <p:nvPr/>
        </p:nvSpPr>
        <p:spPr>
          <a:xfrm>
            <a:off x="314280" y="267480"/>
            <a:ext cx="85118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Présentation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6" name="Image 4" descr=""/>
          <p:cNvPicPr/>
          <p:nvPr/>
        </p:nvPicPr>
        <p:blipFill>
          <a:blip r:embed="rId1"/>
          <a:stretch/>
        </p:blipFill>
        <p:spPr>
          <a:xfrm>
            <a:off x="7613280" y="214200"/>
            <a:ext cx="1104480" cy="404640"/>
          </a:xfrm>
          <a:prstGeom prst="rect">
            <a:avLst/>
          </a:prstGeom>
          <a:ln w="0">
            <a:noFill/>
          </a:ln>
        </p:spPr>
      </p:pic>
      <p:pic>
        <p:nvPicPr>
          <p:cNvPr id="687" name="" descr=""/>
          <p:cNvPicPr/>
          <p:nvPr/>
        </p:nvPicPr>
        <p:blipFill>
          <a:blip r:embed="rId2"/>
          <a:stretch/>
        </p:blipFill>
        <p:spPr>
          <a:xfrm>
            <a:off x="0" y="979920"/>
            <a:ext cx="9143280" cy="336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Shape 9"/>
          <p:cNvSpPr/>
          <p:nvPr/>
        </p:nvSpPr>
        <p:spPr>
          <a:xfrm>
            <a:off x="314280" y="751320"/>
            <a:ext cx="8511840" cy="33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  <a:hlinkClick r:id="rId1"/>
              </a:rPr>
              <a:t>https://github.com/gelineau/cours-algo-bsi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Shape 10"/>
          <p:cNvSpPr/>
          <p:nvPr/>
        </p:nvSpPr>
        <p:spPr>
          <a:xfrm>
            <a:off x="314280" y="267480"/>
            <a:ext cx="85118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Partage des cours / corrections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Shape 1"/>
          <p:cNvSpPr/>
          <p:nvPr/>
        </p:nvSpPr>
        <p:spPr>
          <a:xfrm>
            <a:off x="314280" y="267480"/>
            <a:ext cx="851112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Structures de données, manipulation de strings, fonctions et typage en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Shape 1"/>
          <p:cNvSpPr/>
          <p:nvPr/>
        </p:nvSpPr>
        <p:spPr>
          <a:xfrm>
            <a:off x="314280" y="267480"/>
            <a:ext cx="851112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Exemple de typage en Python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Shape 1"/>
          <p:cNvSpPr/>
          <p:nvPr/>
        </p:nvSpPr>
        <p:spPr>
          <a:xfrm>
            <a:off x="314280" y="1184400"/>
            <a:ext cx="8511120" cy="33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07880"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100000"/>
              </a:lnSpc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07880"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ZoneTexte 7"/>
          <p:cNvSpPr/>
          <p:nvPr/>
        </p:nvSpPr>
        <p:spPr>
          <a:xfrm>
            <a:off x="2226240" y="915480"/>
            <a:ext cx="653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DejaVu Sans"/>
              </a:rPr>
              <a:t>Si vous travaillez avec une version de Python un peu ancienne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4" name="Picture 3" descr=""/>
          <p:cNvPicPr/>
          <p:nvPr/>
        </p:nvPicPr>
        <p:blipFill>
          <a:blip r:embed="rId1"/>
          <a:stretch/>
        </p:blipFill>
        <p:spPr>
          <a:xfrm>
            <a:off x="539640" y="1707480"/>
            <a:ext cx="3930480" cy="911160"/>
          </a:xfrm>
          <a:prstGeom prst="rect">
            <a:avLst/>
          </a:prstGeom>
          <a:ln w="9525">
            <a:noFill/>
          </a:ln>
        </p:spPr>
      </p:pic>
      <p:sp>
        <p:nvSpPr>
          <p:cNvPr id="695" name="Connecteur droit avec flèche 10"/>
          <p:cNvSpPr/>
          <p:nvPr/>
        </p:nvSpPr>
        <p:spPr>
          <a:xfrm flipH="1">
            <a:off x="1760040" y="1275480"/>
            <a:ext cx="356760" cy="428760"/>
          </a:xfrm>
          <a:custGeom>
            <a:avLst/>
            <a:gdLst>
              <a:gd name="textAreaLeft" fmla="*/ 720 w 356760"/>
              <a:gd name="textAreaRight" fmla="*/ 358920 w 356760"/>
              <a:gd name="textAreaTop" fmla="*/ 0 h 428760"/>
              <a:gd name="textAreaBottom" fmla="*/ 430200 h 428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976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6" name="ZoneTexte 11"/>
          <p:cNvSpPr/>
          <p:nvPr/>
        </p:nvSpPr>
        <p:spPr>
          <a:xfrm>
            <a:off x="1203480" y="3291840"/>
            <a:ext cx="3215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Type des paramètres d’entrée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Connecteur droit avec flèche 13"/>
          <p:cNvSpPr/>
          <p:nvPr/>
        </p:nvSpPr>
        <p:spPr>
          <a:xfrm flipV="1">
            <a:off x="1403640" y="2208240"/>
            <a:ext cx="1364760" cy="1004760"/>
          </a:xfrm>
          <a:custGeom>
            <a:avLst/>
            <a:gdLst>
              <a:gd name="textAreaLeft" fmla="*/ 0 w 1364760"/>
              <a:gd name="textAreaRight" fmla="*/ 1366200 w 1364760"/>
              <a:gd name="textAreaTop" fmla="*/ 720 h 1004760"/>
              <a:gd name="textAreaBottom" fmla="*/ 1006920 h 1004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976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8" name="Connecteur droit avec flèche 15"/>
          <p:cNvSpPr/>
          <p:nvPr/>
        </p:nvSpPr>
        <p:spPr>
          <a:xfrm flipV="1">
            <a:off x="1475640" y="2640240"/>
            <a:ext cx="1436760" cy="716760"/>
          </a:xfrm>
          <a:custGeom>
            <a:avLst/>
            <a:gdLst>
              <a:gd name="textAreaLeft" fmla="*/ 0 w 1436760"/>
              <a:gd name="textAreaRight" fmla="*/ 1438200 w 1436760"/>
              <a:gd name="textAreaTop" fmla="*/ 720 h 716760"/>
              <a:gd name="textAreaBottom" fmla="*/ 718920 h 716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976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9" name="ZoneTexte 17"/>
          <p:cNvSpPr/>
          <p:nvPr/>
        </p:nvSpPr>
        <p:spPr>
          <a:xfrm>
            <a:off x="5306040" y="2211840"/>
            <a:ext cx="296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  <a:ea typeface="DejaVu Sans"/>
              </a:rPr>
              <a:t>Type de la valeur retournée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Connecteur droit avec flèche 19"/>
          <p:cNvSpPr/>
          <p:nvPr/>
        </p:nvSpPr>
        <p:spPr>
          <a:xfrm flipH="1" flipV="1">
            <a:off x="3848400" y="2136240"/>
            <a:ext cx="1292760" cy="212760"/>
          </a:xfrm>
          <a:custGeom>
            <a:avLst/>
            <a:gdLst>
              <a:gd name="textAreaLeft" fmla="*/ 720 w 1292760"/>
              <a:gd name="textAreaRight" fmla="*/ 1294920 w 1292760"/>
              <a:gd name="textAreaTop" fmla="*/ 720 h 212760"/>
              <a:gd name="textAreaBottom" fmla="*/ 214920 h 212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976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01" name="Connecteur droit avec flèche 21"/>
          <p:cNvSpPr/>
          <p:nvPr/>
        </p:nvSpPr>
        <p:spPr>
          <a:xfrm flipH="1">
            <a:off x="4136400" y="2499840"/>
            <a:ext cx="1076760" cy="360"/>
          </a:xfrm>
          <a:custGeom>
            <a:avLst/>
            <a:gdLst>
              <a:gd name="textAreaLeft" fmla="*/ 720 w 1076760"/>
              <a:gd name="textAreaRight" fmla="*/ 1078920 w 1076760"/>
              <a:gd name="textAreaTop" fmla="*/ 0 h 360"/>
              <a:gd name="textAreaBottom" fmla="*/ 576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97600"/>
            </a:solidFill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TextShape 18"/>
          <p:cNvSpPr/>
          <p:nvPr/>
        </p:nvSpPr>
        <p:spPr>
          <a:xfrm>
            <a:off x="314280" y="295200"/>
            <a:ext cx="8511840" cy="33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prend une chaîne et un indice en paramètres, et retourne le caractère à cet indice. Si l'indice est invalide, retournez None. Pensez aux indices négatifs.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Une fonction qui renvoie les n premiers caractères d’une chaîne. Tester avec n plus grand que la taille de la chaîne.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 nombre de “a” dans le deuxième mot de la chaîne reçue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Prendre l’avant-dernier mot de la chaîne reçue, et retourner ce mot après avoir enlevé les deux premiers et les deux derniers caractères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 dernier mot de la chaîne, transformé en int. Si le dernier mot n’est pas un nombre, la fonction doit planter.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les n derniers caractères de la chaîne transformée en majuscules. Si la chaîne est moins grande que n, compléter avec des espaces.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une nouvelle chaîne contenant uniquement des “*”, de la même taille que la chaîne reçue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AutoNum type="arabicPlain"/>
            </a:pPr>
            <a:r>
              <a:rPr b="0" lang="fr-FR" sz="16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Renvoyer les n premiers caractères d’une chaîne, mais si n est plus grand que la taille de la chaîne, répéter la chaîne plusieurs fois pour atteindre n caractères.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Shape 19"/>
          <p:cNvSpPr/>
          <p:nvPr/>
        </p:nvSpPr>
        <p:spPr>
          <a:xfrm>
            <a:off x="314280" y="267480"/>
            <a:ext cx="85118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Exercices – strings - 1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TextShape 15"/>
          <p:cNvSpPr/>
          <p:nvPr/>
        </p:nvSpPr>
        <p:spPr>
          <a:xfrm>
            <a:off x="314280" y="751320"/>
            <a:ext cx="8511840" cy="33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compte le nombre de voyelles (a, e, i, o, u, y) d’une chaîne de caractères.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réécrit une adresse email du format prenom.nom@domaine.pays au format nom.prenom@domaine-pro.pays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vérifie si une chaîne donnée est un palindrome (se lit de la même façon de gauche à droite et de droite à gauche)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pc="-1" strike="noStrike">
                <a:solidFill>
                  <a:srgbClr val="000000"/>
                </a:solidFill>
                <a:latin typeface="__fkGroteskNeue_598ab8"/>
                <a:ea typeface="DejaVu Sans"/>
              </a:rPr>
              <a:t>Écrivez une fonction qui prend une chaîne en entrée et retourne cette chaîne inversée.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Shape 16"/>
          <p:cNvSpPr/>
          <p:nvPr/>
        </p:nvSpPr>
        <p:spPr>
          <a:xfrm>
            <a:off x="314280" y="267480"/>
            <a:ext cx="85118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Exercices – strings - 2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TextShape 1"/>
          <p:cNvSpPr/>
          <p:nvPr/>
        </p:nvSpPr>
        <p:spPr>
          <a:xfrm>
            <a:off x="175320" y="685800"/>
            <a:ext cx="8511120" cy="33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1. Recevoir une phrase : Afficher chaque mot sur une ligne, avec son rang et sa taille.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2. Construire une nouvelle liste constituée du double de chaque élément de la liste de départ.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Avec une boucle, puis avec une list comprehension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3. Rechercher si une valeur est présente dans une liste d’entiers.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3.2. Faire aussi une version avec une boucle sans utiliser les fonctions de recherche.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4. Rechercher à quelle position cette valeur est présente.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4.2. Faire aussi une version avec une boucle sans utiliser les fonctions de recherche.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5. Calculer la moyenne d’une liste d’entiers (en utilisant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sum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et sans l’utiliser).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6. Insérer un élément au milieu d’une liste d’entiers (à une position donnée) (en utilisant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insert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et sans l’utiliser).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7. Dans une liste d’entiers, remplacer chaque zéro par la somme de tous les entiers qui se trouvent avant lui.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8. Générer la liste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['ad', 'ae', 'bd', 'be', 'cd', 'ce']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à partir des chaînes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"abc"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et </a:t>
            </a:r>
            <a:r>
              <a:rPr b="0" lang="fr-FR" sz="1600" spc="-1" strike="noStrike">
                <a:solidFill>
                  <a:srgbClr val="000000"/>
                </a:solidFill>
                <a:latin typeface="Liberation Mono;Courier New"/>
                <a:ea typeface="Noto Sans Mono CJK SC"/>
              </a:rPr>
              <a:t>"de"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(avec 2 boucles ou avec une list comprehension).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r>
              <a:rPr b="0" lang="fr-FR" sz="1400" spc="-18" strike="noStrike" baseline="30000">
                <a:solidFill>
                  <a:srgbClr val="000000"/>
                </a:solidFill>
                <a:latin typeface="Helvetica 75 Bold"/>
                <a:ea typeface="DejaVu Sans"/>
              </a:rPr>
              <a:t>	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Shape 2"/>
          <p:cNvSpPr/>
          <p:nvPr/>
        </p:nvSpPr>
        <p:spPr>
          <a:xfrm>
            <a:off x="314280" y="267480"/>
            <a:ext cx="851112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90000"/>
              </a:lnSpc>
            </a:pPr>
            <a:r>
              <a:rPr b="0" lang="fr-FR" sz="2000" spc="-18" strike="noStrike">
                <a:solidFill>
                  <a:srgbClr val="ff7900"/>
                </a:solidFill>
                <a:latin typeface="Helvetica 75 Bold"/>
                <a:ea typeface="DejaVu Sans"/>
              </a:rPr>
              <a:t>Bonus : manipulation de listes et de chaînes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extShape 1"/>
          <p:cNvSpPr/>
          <p:nvPr/>
        </p:nvSpPr>
        <p:spPr>
          <a:xfrm>
            <a:off x="314280" y="268200"/>
            <a:ext cx="4824000" cy="229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5000"/>
              </a:lnSpc>
            </a:pPr>
            <a:r>
              <a:rPr b="0" lang="fr-FR" sz="5500" spc="-18" strike="noStrike">
                <a:solidFill>
                  <a:srgbClr val="000000"/>
                </a:solidFill>
                <a:latin typeface="Helvetica 75 Bold"/>
                <a:ea typeface="DejaVu Sans"/>
              </a:rPr>
              <a:t>Merci</a:t>
            </a:r>
            <a:endParaRPr b="0" lang="en-US" sz="5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312</TotalTime>
  <Application>LibreOffice/24.2.7.2$Linux_X86_64 LibreOffice_project/420$Build-2</Application>
  <AppVersion>15.0000</AppVersion>
  <Words>399</Words>
  <Paragraphs>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2022-08-25T14:04:38Z</dcterms:created>
  <dc:creator>GELINEAU Laurence DTSI/DISU</dc:creator>
  <dc:description/>
  <dc:language>fr-FR</dc:language>
  <cp:lastModifiedBy/>
  <dcterms:modified xsi:type="dcterms:W3CDTF">2026-08-27T12:07:46Z</dcterms:modified>
  <cp:revision>35</cp:revision>
  <dc:subject/>
  <dc:title>Présentation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MSIP_Label_e6c818a6-e1a0-4a6e-a969-20d857c5dc62_ActionId">
    <vt:lpwstr>b1554b42-72ae-4776-9524-b4142537fcfb</vt:lpwstr>
  </property>
  <property fmtid="{D5CDD505-2E9C-101B-9397-08002B2CF9AE}" pid="7" name="MSIP_Label_e6c818a6-e1a0-4a6e-a969-20d857c5dc62_ContentBits">
    <vt:lpwstr>2</vt:lpwstr>
  </property>
  <property fmtid="{D5CDD505-2E9C-101B-9397-08002B2CF9AE}" pid="8" name="MSIP_Label_e6c818a6-e1a0-4a6e-a969-20d857c5dc62_Enabled">
    <vt:lpwstr>true</vt:lpwstr>
  </property>
  <property fmtid="{D5CDD505-2E9C-101B-9397-08002B2CF9AE}" pid="9" name="MSIP_Label_e6c818a6-e1a0-4a6e-a969-20d857c5dc62_Method">
    <vt:lpwstr>Standard</vt:lpwstr>
  </property>
  <property fmtid="{D5CDD505-2E9C-101B-9397-08002B2CF9AE}" pid="10" name="MSIP_Label_e6c818a6-e1a0-4a6e-a969-20d857c5dc62_Name">
    <vt:lpwstr>Orange_restricted_internal.2</vt:lpwstr>
  </property>
  <property fmtid="{D5CDD505-2E9C-101B-9397-08002B2CF9AE}" pid="11" name="MSIP_Label_e6c818a6-e1a0-4a6e-a969-20d857c5dc62_SetDate">
    <vt:lpwstr>2022-08-25T14:05:18Z</vt:lpwstr>
  </property>
  <property fmtid="{D5CDD505-2E9C-101B-9397-08002B2CF9AE}" pid="12" name="MSIP_Label_e6c818a6-e1a0-4a6e-a969-20d857c5dc62_SiteId">
    <vt:lpwstr>90c7a20a-f34b-40bf-bc48-b9253b6f5d20</vt:lpwstr>
  </property>
  <property fmtid="{D5CDD505-2E9C-101B-9397-08002B2CF9AE}" pid="13" name="Notes">
    <vt:i4>0</vt:i4>
  </property>
  <property fmtid="{D5CDD505-2E9C-101B-9397-08002B2CF9AE}" pid="14" name="PresentationFormat">
    <vt:lpwstr>Affichage à l'écran (16:9)</vt:lpwstr>
  </property>
  <property fmtid="{D5CDD505-2E9C-101B-9397-08002B2CF9AE}" pid="15" name="ScaleCrop">
    <vt:bool>0</vt:bool>
  </property>
  <property fmtid="{D5CDD505-2E9C-101B-9397-08002B2CF9AE}" pid="16" name="ShareDoc">
    <vt:bool>0</vt:bool>
  </property>
  <property fmtid="{D5CDD505-2E9C-101B-9397-08002B2CF9AE}" pid="17" name="Slides">
    <vt:i4>15</vt:i4>
  </property>
</Properties>
</file>